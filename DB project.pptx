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9" r:id="rId2"/>
    <p:sldId id="256" r:id="rId3"/>
    <p:sldId id="258" r:id="rId4"/>
    <p:sldId id="262" r:id="rId5"/>
    <p:sldId id="267" r:id="rId6"/>
    <p:sldId id="270" r:id="rId7"/>
    <p:sldId id="271" r:id="rId8"/>
    <p:sldId id="269" r:id="rId9"/>
    <p:sldId id="261" r:id="rId10"/>
    <p:sldId id="260" r:id="rId11"/>
    <p:sldId id="263" r:id="rId12"/>
    <p:sldId id="264" r:id="rId13"/>
    <p:sldId id="272" r:id="rId14"/>
    <p:sldId id="265" r:id="rId15"/>
    <p:sldId id="266" r:id="rId16"/>
    <p:sldId id="268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7" d="100"/>
          <a:sy n="87" d="100"/>
        </p:scale>
        <p:origin x="52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6B1F14-53E1-4C66-BB42-F13C82FEDD4F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70FA21-BE76-43A4-9101-92D207769A1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0679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3" name="PlaceHolder 3"/>
          <p:cNvSpPr>
            <a:spLocks noGrp="1"/>
          </p:cNvSpPr>
          <p:nvPr>
            <p:ph type="sldNum" idx="5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CBAAC24D-1A16-46A0-877E-9BC69DD9558B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3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785940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590382-A27D-4FB9-B793-CEFC2AFFA9A0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4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481129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590382-A27D-4FB9-B793-CEFC2AFFA9A0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5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731128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590382-A27D-4FB9-B793-CEFC2AFFA9A0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6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19038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590382-A27D-4FB9-B793-CEFC2AFFA9A0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7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21206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590382-A27D-4FB9-B793-CEFC2AFFA9A0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8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9572363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590382-A27D-4FB9-B793-CEFC2AFFA9A0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9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953559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590382-A27D-4FB9-B793-CEFC2AFFA9A0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10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361080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590382-A27D-4FB9-B793-CEFC2AFFA9A0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11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866998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590382-A27D-4FB9-B793-CEFC2AFFA9A0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12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6444264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590382-A27D-4FB9-B793-CEFC2AFFA9A0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13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240069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590382-A27D-4FB9-B793-CEFC2AFFA9A0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14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6228383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590382-A27D-4FB9-B793-CEFC2AFFA9A0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15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555525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0" y="0"/>
            <a:ext cx="0" cy="0"/>
          </a:xfrm>
          <a:prstGeom prst="rect">
            <a:avLst/>
          </a:prstGeom>
          <a:ln w="0">
            <a:noFill/>
          </a:ln>
        </p:spPr>
      </p:sp>
      <p:sp>
        <p:nvSpPr>
          <p:cNvPr id="85" name="PlaceHolder 2"/>
          <p:cNvSpPr>
            <a:spLocks noGrp="1"/>
          </p:cNvSpPr>
          <p:nvPr>
            <p:ph type="body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/>
          <a:p>
            <a:pPr marL="216000" indent="-216000">
              <a:buNone/>
            </a:pP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3"/>
          <p:cNvSpPr>
            <a:spLocks noGrp="1"/>
          </p:cNvSpPr>
          <p:nvPr>
            <p:ph type="sldNum" idx="6"/>
          </p:nvPr>
        </p:nvSpPr>
        <p:spPr>
          <a:xfrm>
            <a:off x="0" y="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90000" tIns="-45000" rIns="90000" bIns="-45000" anchor="t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pos="0" algn="l"/>
              </a:tabLst>
            </a:pPr>
            <a:fld id="{07590382-A27D-4FB9-B793-CEFC2AFFA9A0}" type="slidenum">
              <a:rPr lang="en-US" sz="1800" b="0" u="none" strike="noStrike">
                <a:solidFill>
                  <a:schemeClr val="dk1"/>
                </a:solidFill>
                <a:uFillTx/>
                <a:latin typeface="+mn-lt"/>
                <a:ea typeface="+mn-ea"/>
              </a:rPr>
              <a:t>16</a:t>
            </a:fld>
            <a:endParaRPr lang="en-US" sz="1800" b="0" u="none" strike="noStrike">
              <a:solidFill>
                <a:srgbClr val="000000"/>
              </a:solidFill>
              <a:uFillTx/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5405561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BFB3-1CBB-42D4-9EA9-99532A3F4BEE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1494-8B0E-424F-B9E7-690577DA7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062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BFB3-1CBB-42D4-9EA9-99532A3F4BEE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1494-8B0E-424F-B9E7-690577DA7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745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BFB3-1CBB-42D4-9EA9-99532A3F4BEE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1494-8B0E-424F-B9E7-690577DA7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1236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BFB3-1CBB-42D4-9EA9-99532A3F4BEE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1494-8B0E-424F-B9E7-690577DA7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53595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BFB3-1CBB-42D4-9EA9-99532A3F4BEE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1494-8B0E-424F-B9E7-690577DA7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1714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BFB3-1CBB-42D4-9EA9-99532A3F4BEE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1494-8B0E-424F-B9E7-690577DA7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0812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BFB3-1CBB-42D4-9EA9-99532A3F4BEE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1494-8B0E-424F-B9E7-690577DA7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024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BFB3-1CBB-42D4-9EA9-99532A3F4BEE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1494-8B0E-424F-B9E7-690577DA7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838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BFB3-1CBB-42D4-9EA9-99532A3F4BEE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1494-8B0E-424F-B9E7-690577DA7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49719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BFB3-1CBB-42D4-9EA9-99532A3F4BEE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1494-8B0E-424F-B9E7-690577DA7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1997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BFB3-1CBB-42D4-9EA9-99532A3F4BEE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1494-8B0E-424F-B9E7-690577DA7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002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BFB3-1CBB-42D4-9EA9-99532A3F4BEE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1494-8B0E-424F-B9E7-690577DA74C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184420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BFB3-1CBB-42D4-9EA9-99532A3F4BEE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1494-8B0E-424F-B9E7-690577DA7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5013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BFB3-1CBB-42D4-9EA9-99532A3F4BEE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1494-8B0E-424F-B9E7-690577DA7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133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BFB3-1CBB-42D4-9EA9-99532A3F4BEE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1494-8B0E-424F-B9E7-690577DA7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6315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BFB3-1CBB-42D4-9EA9-99532A3F4BEE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1494-8B0E-424F-B9E7-690577DA7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1207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69BFB3-1CBB-42D4-9EA9-99532A3F4BEE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421494-8B0E-424F-B9E7-690577DA7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66416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1E69BFB3-1CBB-42D4-9EA9-99532A3F4BEE}" type="datetimeFigureOut">
              <a:rPr lang="en-US" smtClean="0"/>
              <a:t>5/10/2025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F9421494-8B0E-424F-B9E7-690577DA74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5733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5603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0"/>
          <p:cNvSpPr/>
          <p:nvPr/>
        </p:nvSpPr>
        <p:spPr>
          <a:xfrm>
            <a:off x="743787" y="0"/>
            <a:ext cx="10704425" cy="8318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>
              <a:lnSpc>
                <a:spcPts val="5500"/>
              </a:lnSpc>
            </a:pPr>
            <a:r>
              <a:rPr lang="en-US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System Lab Project</a:t>
            </a:r>
          </a:p>
          <a:p>
            <a:pPr algn="ctr">
              <a:lnSpc>
                <a:spcPts val="5500"/>
              </a:lnSpc>
            </a:pPr>
            <a:r>
              <a:rPr lang="en-US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 1"/>
          <p:cNvSpPr/>
          <p:nvPr/>
        </p:nvSpPr>
        <p:spPr>
          <a:xfrm>
            <a:off x="9336766" y="5790456"/>
            <a:ext cx="3000960" cy="92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ts val="2409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CDCDCD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Syed </a:t>
            </a:r>
            <a:r>
              <a:rPr lang="en-US" sz="2000" b="0" u="none" strike="noStrike" dirty="0" err="1">
                <a:solidFill>
                  <a:srgbClr val="CDCDCD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Hassnain</a:t>
            </a:r>
            <a:r>
              <a:rPr lang="en-US" sz="2000" b="0" u="none" strike="noStrike" dirty="0">
                <a:solidFill>
                  <a:srgbClr val="CDCDCD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Abbas </a:t>
            </a:r>
            <a:endParaRPr lang="en-US" sz="2000" b="0" u="none" strike="noStrike" dirty="0">
              <a:solidFill>
                <a:srgbClr val="000000"/>
              </a:solidFill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defTabSz="914400">
              <a:lnSpc>
                <a:spcPts val="2409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CDCDCD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23P-3029</a:t>
            </a:r>
            <a:endParaRPr lang="en-US" sz="2000" b="0" u="none" strike="noStrike" dirty="0">
              <a:solidFill>
                <a:srgbClr val="000000"/>
              </a:solidFill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 defTabSz="914400">
              <a:lnSpc>
                <a:spcPts val="2409"/>
              </a:lnSpc>
              <a:tabLst>
                <a:tab pos="0" algn="l"/>
              </a:tabLst>
            </a:pPr>
            <a:r>
              <a:rPr lang="en-US" sz="2000" b="0" u="none" strike="noStrike" dirty="0">
                <a:solidFill>
                  <a:srgbClr val="CDCDCD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BSE-4A</a:t>
            </a:r>
            <a:endParaRPr lang="en-US" sz="2000" b="0" u="none" strike="noStrike" dirty="0">
              <a:solidFill>
                <a:srgbClr val="000000"/>
              </a:solidFill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9" name="Text 1"/>
          <p:cNvSpPr/>
          <p:nvPr/>
        </p:nvSpPr>
        <p:spPr>
          <a:xfrm>
            <a:off x="4595519" y="2753211"/>
            <a:ext cx="3000960" cy="921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algn="ctr" defTabSz="914400">
              <a:lnSpc>
                <a:spcPts val="2409"/>
              </a:lnSpc>
              <a:tabLst>
                <a:tab pos="0" algn="l"/>
              </a:tabLst>
            </a:pPr>
            <a:r>
              <a:rPr lang="en-US" sz="2000" b="0" u="none" strike="noStrike" dirty="0" smtClean="0">
                <a:solidFill>
                  <a:srgbClr val="CDCDCD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Content of Project Presentation:</a:t>
            </a:r>
            <a:endParaRPr lang="en-US" sz="2000" b="0" u="none" strike="noStrike" dirty="0">
              <a:solidFill>
                <a:srgbClr val="000000"/>
              </a:solidFill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Text 0"/>
          <p:cNvSpPr/>
          <p:nvPr/>
        </p:nvSpPr>
        <p:spPr>
          <a:xfrm>
            <a:off x="513822" y="886464"/>
            <a:ext cx="8034377" cy="134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5500"/>
              </a:lnSpc>
            </a:pPr>
            <a:r>
              <a:rPr lang="en-US" sz="24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Thunder - Energy Intelligence Platform </a:t>
            </a:r>
          </a:p>
          <a:p>
            <a:pPr>
              <a:lnSpc>
                <a:spcPts val="5500"/>
              </a:lnSpc>
            </a:pPr>
            <a:r>
              <a:rPr lang="en-US" sz="2400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Telecommunication’s Energy </a:t>
            </a:r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400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ata </a:t>
            </a:r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nalysis </a:t>
            </a:r>
            <a:r>
              <a:rPr lang="en-US" sz="2400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sz="2400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ashboard</a:t>
            </a:r>
            <a:endParaRPr lang="en-US" sz="2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 algn="l">
              <a:lnSpc>
                <a:spcPts val="5500"/>
              </a:lnSpc>
              <a:buNone/>
            </a:pPr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Text 1"/>
          <p:cNvSpPr/>
          <p:nvPr/>
        </p:nvSpPr>
        <p:spPr>
          <a:xfrm>
            <a:off x="4800111" y="3729096"/>
            <a:ext cx="4768200" cy="2350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marL="457200" indent="-457200" defTabSz="914400">
              <a:lnSpc>
                <a:spcPts val="2409"/>
              </a:lnSpc>
              <a:buClr>
                <a:srgbClr val="CDCDCD"/>
              </a:buClr>
              <a:buFont typeface="OpenSymbol"/>
              <a:buAutoNum type="arabicPeriod"/>
            </a:pPr>
            <a:r>
              <a:rPr lang="en-US" b="0" u="none" strike="noStrike" dirty="0">
                <a:solidFill>
                  <a:srgbClr val="CDCDCD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this project</a:t>
            </a:r>
            <a:r>
              <a:rPr lang="en-US" b="0" u="none" strike="noStrike" dirty="0" smtClean="0">
                <a:solidFill>
                  <a:srgbClr val="CDCDCD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?</a:t>
            </a:r>
          </a:p>
          <a:p>
            <a:pPr marL="457200" indent="-457200">
              <a:lnSpc>
                <a:spcPts val="2409"/>
              </a:lnSpc>
              <a:buClr>
                <a:srgbClr val="CDCDCD"/>
              </a:buClr>
              <a:buFont typeface="OpenSymbol"/>
              <a:buAutoNum type="arabicPeriod"/>
            </a:pPr>
            <a:r>
              <a:rPr lang="en-US" b="0" u="none" strike="noStrike" dirty="0" smtClean="0">
                <a:solidFill>
                  <a:srgbClr val="CDCDCD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 it matters (Real Life Application)</a:t>
            </a:r>
          </a:p>
          <a:p>
            <a:pPr marL="457200" indent="-457200">
              <a:lnSpc>
                <a:spcPts val="2409"/>
              </a:lnSpc>
              <a:buClr>
                <a:srgbClr val="CDCDCD"/>
              </a:buClr>
              <a:buFont typeface="OpenSymbol"/>
              <a:buAutoNum type="arabicPeriod"/>
            </a:pPr>
            <a:r>
              <a:rPr lang="en-US" b="0" u="none" strike="noStrike" dirty="0" smtClean="0">
                <a:solidFill>
                  <a:srgbClr val="CDCDCD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Features Overview.</a:t>
            </a:r>
          </a:p>
          <a:p>
            <a:pPr marL="457200" indent="-457200">
              <a:lnSpc>
                <a:spcPts val="2409"/>
              </a:lnSpc>
              <a:buClr>
                <a:srgbClr val="CDCDCD"/>
              </a:buClr>
              <a:buFont typeface="OpenSymbol"/>
              <a:buAutoNum type="arabicPeriod"/>
            </a:pPr>
            <a:r>
              <a:rPr lang="en-US" dirty="0" smtClean="0">
                <a:solidFill>
                  <a:srgbClr val="CDCDCD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Concepts Used</a:t>
            </a:r>
            <a:endParaRPr lang="en-US" b="0" u="none" strike="noStrike" dirty="0">
              <a:solidFill>
                <a:srgbClr val="000000"/>
              </a:solidFill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defTabSz="914400">
              <a:lnSpc>
                <a:spcPts val="2409"/>
              </a:lnSpc>
              <a:buClr>
                <a:srgbClr val="CDCDCD"/>
              </a:buClr>
              <a:buFont typeface="OpenSymbol"/>
              <a:buAutoNum type="arabicPeriod"/>
            </a:pPr>
            <a:r>
              <a:rPr lang="en-US" b="0" u="none" strike="noStrike" dirty="0" smtClean="0">
                <a:solidFill>
                  <a:srgbClr val="CDCDCD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Technologies Used.</a:t>
            </a:r>
            <a:endParaRPr lang="en-US" b="0" u="none" strike="noStrike" dirty="0" smtClean="0">
              <a:solidFill>
                <a:srgbClr val="000000"/>
              </a:solidFill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 defTabSz="914400">
              <a:lnSpc>
                <a:spcPts val="2409"/>
              </a:lnSpc>
              <a:buClr>
                <a:srgbClr val="CDCDCD"/>
              </a:buClr>
              <a:buFont typeface="OpenSymbol"/>
              <a:buAutoNum type="arabicPeriod"/>
            </a:pPr>
            <a:r>
              <a:rPr lang="en-US" b="0" u="none" strike="noStrike" dirty="0" smtClean="0">
                <a:solidFill>
                  <a:srgbClr val="CDCDCD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In-depth </a:t>
            </a:r>
            <a:r>
              <a:rPr lang="en-US" b="0" u="none" strike="noStrike" dirty="0">
                <a:solidFill>
                  <a:srgbClr val="CDCDCD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Review.</a:t>
            </a:r>
            <a:endParaRPr lang="en-US" b="0" u="none" strike="noStrike" dirty="0">
              <a:solidFill>
                <a:srgbClr val="000000"/>
              </a:solidFill>
              <a:uFillTx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8199" y="454632"/>
            <a:ext cx="2314053" cy="2314053"/>
          </a:xfrm>
          <a:prstGeom prst="rect">
            <a:avLst/>
          </a:prstGeom>
        </p:spPr>
      </p:pic>
      <p:sp>
        <p:nvSpPr>
          <p:cNvPr id="16" name="Right Arrow 15"/>
          <p:cNvSpPr/>
          <p:nvPr/>
        </p:nvSpPr>
        <p:spPr>
          <a:xfrm>
            <a:off x="5732586" y="1194351"/>
            <a:ext cx="2558561" cy="319085"/>
          </a:xfrm>
          <a:prstGeom prst="rightArrow">
            <a:avLst/>
          </a:prstGeom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97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3846450" y="492980"/>
            <a:ext cx="4497300" cy="6153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761970">
              <a:lnSpc>
                <a:spcPts val="4833"/>
              </a:lnSpc>
              <a:tabLst>
                <a:tab pos="0" algn="l"/>
              </a:tabLst>
            </a:pPr>
            <a:r>
              <a:rPr lang="en-US" sz="3867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is this project?</a:t>
            </a:r>
            <a:endParaRPr lang="en-US" sz="3867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7" name="Text 3"/>
          <p:cNvSpPr/>
          <p:nvPr/>
        </p:nvSpPr>
        <p:spPr>
          <a:xfrm>
            <a:off x="1756500" y="3756900"/>
            <a:ext cx="8677200" cy="7677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761970">
              <a:lnSpc>
                <a:spcPts val="2007"/>
              </a:lnSpc>
              <a:spcBef>
                <a:spcPts val="992"/>
              </a:spcBef>
              <a:spcAft>
                <a:spcPts val="827"/>
              </a:spcAft>
            </a:pP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641312" y="1872141"/>
            <a:ext cx="11065850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just" defTabSz="761970">
              <a:tabLst>
                <a:tab pos="0" algn="l"/>
              </a:tabLst>
            </a:pPr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This project is a part of my internship task where I was assigned to create a </a:t>
            </a:r>
          </a:p>
          <a:p>
            <a:pPr algn="just" defTabSz="761970">
              <a:tabLst>
                <a:tab pos="0" algn="l"/>
              </a:tabLst>
            </a:pPr>
            <a:r>
              <a:rPr lang="en-US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Telecommunication’s energy data analysis dashboard </a:t>
            </a:r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</a:t>
            </a:r>
            <a:r>
              <a:rPr lang="en-US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Telenor </a:t>
            </a:r>
            <a:r>
              <a:rPr lang="en-US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towers</a:t>
            </a:r>
            <a:r>
              <a:rPr lang="en-US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 defTabSz="761970">
              <a:tabLst>
                <a:tab pos="0" algn="l"/>
              </a:tabLst>
            </a:pPr>
            <a:endParaRPr lang="en-US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761970">
              <a:tabLst>
                <a:tab pos="0" algn="l"/>
              </a:tabLst>
            </a:pPr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data is fetched from the IOT sensor on those </a:t>
            </a:r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sites </a:t>
            </a:r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then stored in the DB, then the data is fetched via python</a:t>
            </a:r>
          </a:p>
          <a:p>
            <a:pPr algn="just" defTabSz="761970">
              <a:tabLst>
                <a:tab pos="0" algn="l"/>
              </a:tabLst>
            </a:pPr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data manipulation is done on the data to make it appropriate for analysis and visualizations.</a:t>
            </a:r>
          </a:p>
          <a:p>
            <a:pPr algn="just" defTabSz="761970">
              <a:tabLst>
                <a:tab pos="0" algn="l"/>
              </a:tabLst>
            </a:pPr>
            <a:endParaRPr lang="en-US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761970">
              <a:tabLst>
                <a:tab pos="0" algn="l"/>
              </a:tabLst>
            </a:pPr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 manage Telenor’s towers by performing analysis of:</a:t>
            </a:r>
          </a:p>
          <a:p>
            <a:pPr marL="285750" indent="-285750" algn="just" defTabSz="76197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 power sources </a:t>
            </a:r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 </a:t>
            </a:r>
            <a:r>
              <a:rPr lang="en-US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charge batteries</a:t>
            </a:r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 algn="just" defTabSz="76197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dentify load share </a:t>
            </a:r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 a specific time</a:t>
            </a:r>
          </a:p>
          <a:p>
            <a:pPr marL="285750" indent="-285750" algn="just" defTabSz="76197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Training time series model to predict load shedding patterns</a:t>
            </a:r>
          </a:p>
          <a:p>
            <a:pPr marL="285750" indent="-285750" algn="just" defTabSz="76197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load shedding analysis</a:t>
            </a:r>
          </a:p>
          <a:p>
            <a:pPr marL="285750" indent="-285750" algn="just" defTabSz="761970">
              <a:buFont typeface="Arial" panose="020B0604020202020204" pitchFamily="34" charset="0"/>
              <a:buChar char="•"/>
              <a:tabLst>
                <a:tab pos="0" algn="l"/>
              </a:tabLst>
            </a:pPr>
            <a:r>
              <a:rPr lang="en-US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Battery Tracker</a:t>
            </a:r>
            <a:endParaRPr lang="en-US" dirty="0" smtClean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4875" y="545400"/>
            <a:ext cx="1308845" cy="560933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3750" y="3558208"/>
            <a:ext cx="3031638" cy="303163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837901" y="6220514"/>
            <a:ext cx="24216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 Tower from a site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681602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5"/>
          <p:cNvSpPr/>
          <p:nvPr/>
        </p:nvSpPr>
        <p:spPr>
          <a:xfrm>
            <a:off x="2752578" y="120994"/>
            <a:ext cx="6948720" cy="73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914400">
              <a:lnSpc>
                <a:spcPts val="5800"/>
              </a:lnSpc>
              <a:tabLst>
                <a:tab pos="0" algn="l"/>
              </a:tabLst>
            </a:pPr>
            <a:r>
              <a:rPr lang="en-US" sz="4640" b="0" u="none" strike="noStrike" dirty="0">
                <a:solidFill>
                  <a:srgbClr val="FFFFFF"/>
                </a:solidFill>
                <a:uFillTx/>
                <a:latin typeface="MiSans-MiSans-Semibold"/>
                <a:ea typeface="MiSans-MiSans-Semibold"/>
              </a:rPr>
              <a:t>Overview of </a:t>
            </a:r>
            <a:r>
              <a:rPr lang="en-US" sz="4640" b="0" u="none" strike="noStrike" dirty="0" smtClean="0">
                <a:solidFill>
                  <a:srgbClr val="FFFFFF"/>
                </a:solidFill>
                <a:uFillTx/>
                <a:latin typeface="MiSans-MiSans-Semibold"/>
                <a:ea typeface="MiSans-MiSans-Semibold"/>
              </a:rPr>
              <a:t>Features</a:t>
            </a:r>
            <a:endParaRPr lang="en-US" sz="464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grpSp>
        <p:nvGrpSpPr>
          <p:cNvPr id="46" name="Diagram 28"/>
          <p:cNvGrpSpPr/>
          <p:nvPr/>
        </p:nvGrpSpPr>
        <p:grpSpPr>
          <a:xfrm>
            <a:off x="1772236" y="1065738"/>
            <a:ext cx="8590965" cy="5504396"/>
            <a:chOff x="2438280" y="1704960"/>
            <a:chExt cx="9751320" cy="6500160"/>
          </a:xfrm>
        </p:grpSpPr>
        <p:sp>
          <p:nvSpPr>
            <p:cNvPr id="47" name="Rectangle 46"/>
            <p:cNvSpPr/>
            <p:nvPr/>
          </p:nvSpPr>
          <p:spPr>
            <a:xfrm>
              <a:off x="2438280" y="1704960"/>
              <a:ext cx="9751320" cy="6500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8" name="Block Arc 47"/>
            <p:cNvSpPr/>
            <p:nvPr/>
          </p:nvSpPr>
          <p:spPr>
            <a:xfrm>
              <a:off x="4815000" y="2455560"/>
              <a:ext cx="4998600" cy="4998600"/>
            </a:xfrm>
            <a:prstGeom prst="blockArc">
              <a:avLst>
                <a:gd name="adj1" fmla="val 10800000"/>
                <a:gd name="adj2" fmla="val 16200000"/>
                <a:gd name="adj3" fmla="val 4642"/>
              </a:avLst>
            </a:prstGeom>
            <a:solidFill>
              <a:schemeClr val="dk2">
                <a:tint val="60000"/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49" name="Block Arc 48"/>
            <p:cNvSpPr/>
            <p:nvPr/>
          </p:nvSpPr>
          <p:spPr>
            <a:xfrm>
              <a:off x="4815000" y="2455560"/>
              <a:ext cx="4998600" cy="4998600"/>
            </a:xfrm>
            <a:prstGeom prst="blockArc">
              <a:avLst>
                <a:gd name="adj1" fmla="val 5400000"/>
                <a:gd name="adj2" fmla="val 10800000"/>
                <a:gd name="adj3" fmla="val 4642"/>
              </a:avLst>
            </a:prstGeom>
            <a:solidFill>
              <a:schemeClr val="dk2">
                <a:tint val="60000"/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0" name="Block Arc 49"/>
            <p:cNvSpPr/>
            <p:nvPr/>
          </p:nvSpPr>
          <p:spPr>
            <a:xfrm>
              <a:off x="4815000" y="2455560"/>
              <a:ext cx="4998600" cy="4998600"/>
            </a:xfrm>
            <a:prstGeom prst="blockArc">
              <a:avLst>
                <a:gd name="adj1" fmla="val 0"/>
                <a:gd name="adj2" fmla="val 5400000"/>
                <a:gd name="adj3" fmla="val 4642"/>
              </a:avLst>
            </a:prstGeom>
            <a:solidFill>
              <a:schemeClr val="dk2">
                <a:tint val="60000"/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1" name="Block Arc 50"/>
            <p:cNvSpPr/>
            <p:nvPr/>
          </p:nvSpPr>
          <p:spPr>
            <a:xfrm>
              <a:off x="4815000" y="2455560"/>
              <a:ext cx="4998600" cy="4998600"/>
            </a:xfrm>
            <a:prstGeom prst="blockArc">
              <a:avLst>
                <a:gd name="adj1" fmla="val 16200000"/>
                <a:gd name="adj2" fmla="val 0"/>
                <a:gd name="adj3" fmla="val 4642"/>
              </a:avLst>
            </a:prstGeom>
            <a:solidFill>
              <a:schemeClr val="dk2">
                <a:tint val="60000"/>
                <a:hueOff val="0"/>
                <a:satOff val="0"/>
                <a:lumOff val="0"/>
                <a:alphaOff val="0"/>
              </a:schemeClr>
            </a:solid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pPr>
                <a:lnSpc>
                  <a:spcPct val="100000"/>
                </a:lnSpc>
              </a:pPr>
              <a:endParaRPr lang="en-US" sz="1800" b="0" u="none" strike="noStrike">
                <a:solidFill>
                  <a:srgbClr val="000000"/>
                </a:solidFill>
                <a:uFillTx/>
                <a:latin typeface="Arial"/>
              </a:endParaRPr>
            </a:p>
          </p:txBody>
        </p:sp>
        <p:sp>
          <p:nvSpPr>
            <p:cNvPr id="52" name="Oval 51"/>
            <p:cNvSpPr/>
            <p:nvPr/>
          </p:nvSpPr>
          <p:spPr>
            <a:xfrm>
              <a:off x="6163920" y="3804840"/>
              <a:ext cx="2300400" cy="2300400"/>
            </a:xfrm>
            <a:prstGeom prst="ellipse">
              <a:avLst/>
            </a:prstGeom>
            <a:solidFill>
              <a:schemeClr val="dk2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E7E6E6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43200" tIns="43200" rIns="43200" bIns="43200" numCol="1" spcCol="1440" anchor="ctr">
              <a:noAutofit/>
            </a:bodyPr>
            <a:lstStyle/>
            <a:p>
              <a:pPr algn="ctr" defTabSz="1511280">
                <a:lnSpc>
                  <a:spcPct val="90000"/>
                </a:lnSpc>
                <a:spcAft>
                  <a:spcPts val="1191"/>
                </a:spcAft>
              </a:pPr>
              <a:r>
                <a:rPr lang="en-US" sz="2800" b="0" u="none" strike="noStrike" dirty="0" smtClean="0">
                  <a:solidFill>
                    <a:schemeClr val="lt1"/>
                  </a:solidFill>
                  <a:uFillTx/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Smart</a:t>
              </a:r>
              <a:r>
                <a:rPr lang="en-US" sz="2800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 </a:t>
              </a:r>
              <a:r>
                <a:rPr lang="en-US" sz="2800" dirty="0" smtClean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Battery Tracker</a:t>
              </a:r>
              <a:endParaRPr lang="en-US" sz="2800" b="0" u="none" strike="noStrike" dirty="0" smtClean="0">
                <a:solidFill>
                  <a:schemeClr val="lt1"/>
                </a:solidFill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53" name="Oval 52"/>
            <p:cNvSpPr/>
            <p:nvPr/>
          </p:nvSpPr>
          <p:spPr>
            <a:xfrm>
              <a:off x="6465906" y="1969726"/>
              <a:ext cx="1609560" cy="1609560"/>
            </a:xfrm>
            <a:prstGeom prst="ellipse">
              <a:avLst/>
            </a:prstGeom>
            <a:solidFill>
              <a:schemeClr val="dk2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E7E6E6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4120" tIns="24120" rIns="24120" bIns="24120" numCol="1" spcCol="1440" anchor="ctr">
              <a:noAutofit/>
            </a:bodyPr>
            <a:lstStyle/>
            <a:p>
              <a:pPr algn="ctr" defTabSz="844560">
                <a:lnSpc>
                  <a:spcPct val="90000"/>
                </a:lnSpc>
                <a:spcAft>
                  <a:spcPts val="666"/>
                </a:spcAft>
              </a:pPr>
              <a:r>
                <a:rPr lang="en-US" sz="1900" b="0" u="none" strike="noStrike" dirty="0" smtClean="0">
                  <a:solidFill>
                    <a:schemeClr val="lt1"/>
                  </a:solidFill>
                  <a:uFillTx/>
                  <a:latin typeface="Calibri"/>
                </a:rPr>
                <a:t>Login</a:t>
              </a:r>
              <a:endParaRPr lang="en-US" sz="1900" b="0" u="none" strike="noStrike" dirty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54" name="Oval 53"/>
            <p:cNvSpPr/>
            <p:nvPr/>
          </p:nvSpPr>
          <p:spPr>
            <a:xfrm>
              <a:off x="8334181" y="6032455"/>
              <a:ext cx="1609560" cy="1609560"/>
            </a:xfrm>
            <a:prstGeom prst="ellipse">
              <a:avLst/>
            </a:prstGeom>
            <a:solidFill>
              <a:schemeClr val="dk2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E7E6E6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4120" tIns="24120" rIns="24120" bIns="24120" numCol="1" spcCol="1440" anchor="ctr">
              <a:noAutofit/>
            </a:bodyPr>
            <a:lstStyle/>
            <a:p>
              <a:pPr algn="ctr" defTabSz="844560">
                <a:lnSpc>
                  <a:spcPct val="90000"/>
                </a:lnSpc>
                <a:spcAft>
                  <a:spcPts val="666"/>
                </a:spcAft>
              </a:pPr>
              <a:r>
                <a:rPr lang="en-US" sz="1900" b="0" u="none" strike="noStrike" dirty="0" smtClean="0">
                  <a:solidFill>
                    <a:schemeClr val="lt1"/>
                  </a:solidFill>
                  <a:uFillTx/>
                  <a:latin typeface="Calibri"/>
                </a:rPr>
                <a:t>Load Shedding </a:t>
              </a:r>
              <a:r>
                <a:rPr lang="en-US" sz="1600" b="0" u="none" strike="noStrike" dirty="0" smtClean="0">
                  <a:solidFill>
                    <a:schemeClr val="lt1"/>
                  </a:solidFill>
                  <a:uFillTx/>
                  <a:latin typeface="Calibri"/>
                </a:rPr>
                <a:t>Prediction</a:t>
              </a:r>
              <a:endParaRPr lang="en-US" sz="1900" b="0" u="none" strike="noStrike" dirty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55" name="Oval 54"/>
            <p:cNvSpPr/>
            <p:nvPr/>
          </p:nvSpPr>
          <p:spPr>
            <a:xfrm>
              <a:off x="5359140" y="6220080"/>
              <a:ext cx="1609560" cy="1609560"/>
            </a:xfrm>
            <a:prstGeom prst="ellipse">
              <a:avLst/>
            </a:prstGeom>
            <a:solidFill>
              <a:schemeClr val="dk2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E7E6E6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4120" tIns="24120" rIns="24120" bIns="24120" numCol="1" spcCol="1440" anchor="ctr">
              <a:noAutofit/>
            </a:bodyPr>
            <a:lstStyle/>
            <a:p>
              <a:pPr algn="ctr" defTabSz="844560">
                <a:lnSpc>
                  <a:spcPct val="90000"/>
                </a:lnSpc>
                <a:spcAft>
                  <a:spcPts val="666"/>
                </a:spcAft>
              </a:pPr>
              <a:r>
                <a:rPr lang="en-US" sz="1900" b="0" u="none" strike="noStrike" dirty="0" smtClean="0">
                  <a:solidFill>
                    <a:schemeClr val="lt1"/>
                  </a:solidFill>
                  <a:uFillTx/>
                  <a:latin typeface="Calibri"/>
                </a:rPr>
                <a:t>Load Share %</a:t>
              </a:r>
              <a:endParaRPr lang="en-US" sz="1900" b="0" u="none" strike="noStrike" dirty="0">
                <a:solidFill>
                  <a:srgbClr val="FFFFFF"/>
                </a:solidFill>
                <a:uFillTx/>
                <a:latin typeface="Arial"/>
              </a:endParaRPr>
            </a:p>
          </p:txBody>
        </p:sp>
        <p:sp>
          <p:nvSpPr>
            <p:cNvPr id="56" name="Oval 55"/>
            <p:cNvSpPr/>
            <p:nvPr/>
          </p:nvSpPr>
          <p:spPr>
            <a:xfrm>
              <a:off x="4144639" y="3804840"/>
              <a:ext cx="1609560" cy="1609560"/>
            </a:xfrm>
            <a:prstGeom prst="ellipse">
              <a:avLst/>
            </a:prstGeom>
            <a:solidFill>
              <a:schemeClr val="dk2">
                <a:hueOff val="0"/>
                <a:satOff val="0"/>
                <a:lumOff val="0"/>
                <a:alphaOff val="0"/>
              </a:schemeClr>
            </a:solidFill>
            <a:ln>
              <a:solidFill>
                <a:srgbClr val="E7E6E6"/>
              </a:solidFill>
            </a:ln>
          </p:spPr>
          <p:style>
            <a:lnRef idx="2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20160" tIns="20160" rIns="20160" bIns="20160" numCol="1" spcCol="1440" anchor="ctr">
              <a:noAutofit/>
            </a:bodyPr>
            <a:lstStyle/>
            <a:p>
              <a:pPr algn="ctr" defTabSz="711360">
                <a:lnSpc>
                  <a:spcPct val="90000"/>
                </a:lnSpc>
                <a:spcAft>
                  <a:spcPts val="561"/>
                </a:spcAft>
              </a:pPr>
              <a:r>
                <a:rPr lang="en-US" sz="1600" b="0" u="none" strike="noStrike" dirty="0" smtClean="0">
                  <a:solidFill>
                    <a:srgbClr val="FFFFFF"/>
                  </a:solidFill>
                  <a:uFillTx/>
                  <a:latin typeface="MiSans-MiSans-Semibold"/>
                  <a:ea typeface="MiSans-MiSans-Semibold"/>
                </a:rPr>
                <a:t>Daily Load Shedding</a:t>
              </a:r>
              <a:endParaRPr lang="en-US" sz="1600" b="0" u="none" strike="noStrike" dirty="0">
                <a:solidFill>
                  <a:srgbClr val="FFFFFF"/>
                </a:solidFill>
                <a:uFillTx/>
                <a:latin typeface="Arial"/>
              </a:endParaRPr>
            </a:p>
          </p:txBody>
        </p:sp>
      </p:grpSp>
      <p:sp>
        <p:nvSpPr>
          <p:cNvPr id="15" name="Oval 14"/>
          <p:cNvSpPr/>
          <p:nvPr/>
        </p:nvSpPr>
        <p:spPr>
          <a:xfrm>
            <a:off x="7365644" y="2582624"/>
            <a:ext cx="1418031" cy="1362990"/>
          </a:xfrm>
          <a:prstGeom prst="ellipse">
            <a:avLst/>
          </a:prstGeom>
          <a:solidFill>
            <a:schemeClr val="dk2">
              <a:hueOff val="0"/>
              <a:satOff val="0"/>
              <a:lumOff val="0"/>
              <a:alphaOff val="0"/>
            </a:schemeClr>
          </a:solidFill>
          <a:ln>
            <a:solidFill>
              <a:srgbClr val="E7E6E6"/>
            </a:solidFill>
          </a:ln>
        </p:spPr>
        <p:style>
          <a:lnRef idx="2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24120" tIns="24120" rIns="24120" bIns="24120" numCol="1" spcCol="1440" anchor="ctr">
            <a:noAutofit/>
          </a:bodyPr>
          <a:lstStyle/>
          <a:p>
            <a:pPr algn="ctr" defTabSz="844560">
              <a:lnSpc>
                <a:spcPct val="90000"/>
              </a:lnSpc>
              <a:spcAft>
                <a:spcPts val="666"/>
              </a:spcAft>
            </a:pPr>
            <a:r>
              <a:rPr lang="en-US" sz="1900" b="0" u="none" strike="noStrike" smtClean="0">
                <a:solidFill>
                  <a:schemeClr val="lt1"/>
                </a:solidFill>
                <a:uFillTx/>
                <a:latin typeface="Calibri"/>
              </a:rPr>
              <a:t>Active Powe</a:t>
            </a:r>
            <a:r>
              <a:rPr lang="en-US" sz="1900" smtClean="0">
                <a:solidFill>
                  <a:schemeClr val="lt1"/>
                </a:solidFill>
                <a:latin typeface="Calibri"/>
              </a:rPr>
              <a:t>r Source</a:t>
            </a:r>
            <a:endParaRPr lang="en-US" sz="1900" b="0" u="none" strike="noStrike" dirty="0">
              <a:solidFill>
                <a:srgbClr val="FFFFFF"/>
              </a:solidFill>
              <a:uFillTx/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474855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4912619" y="2127737"/>
            <a:ext cx="6189785" cy="2224455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 5"/>
          <p:cNvSpPr/>
          <p:nvPr/>
        </p:nvSpPr>
        <p:spPr>
          <a:xfrm>
            <a:off x="2752578" y="120994"/>
            <a:ext cx="6948720" cy="73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ts val="5800"/>
              </a:lnSpc>
              <a:tabLst>
                <a:tab pos="0" algn="l"/>
              </a:tabLst>
            </a:pPr>
            <a:r>
              <a:rPr lang="en-US" sz="4640" b="0" u="none" strike="noStrike" dirty="0" smtClean="0">
                <a:solidFill>
                  <a:srgbClr val="FFFFFF"/>
                </a:solidFill>
                <a:uFillTx/>
                <a:latin typeface="MiSans-MiSans-Semibold"/>
                <a:ea typeface="MiSans-MiSans-Semibold"/>
              </a:rPr>
              <a:t>DB concepts used</a:t>
            </a:r>
            <a:endParaRPr lang="en-US" sz="464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400161" y="1987035"/>
            <a:ext cx="4470777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Creation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 Configuration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Insertion into the DB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Setting Key’s (primary, foreign)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Trigger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Queries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Join’s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Cursor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ERD</a:t>
            </a:r>
          </a:p>
        </p:txBody>
      </p:sp>
      <p:sp>
        <p:nvSpPr>
          <p:cNvPr id="4" name="Rectangle 3"/>
          <p:cNvSpPr/>
          <p:nvPr/>
        </p:nvSpPr>
        <p:spPr>
          <a:xfrm>
            <a:off x="7725222" y="1617703"/>
            <a:ext cx="56457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ERD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46784" y="2373555"/>
            <a:ext cx="5921454" cy="1732817"/>
          </a:xfrm>
          <a:prstGeom prst="rect">
            <a:avLst/>
          </a:prstGeom>
          <a:effectLst>
            <a:softEdge rad="0"/>
          </a:effectLst>
        </p:spPr>
      </p:pic>
    </p:spTree>
    <p:extLst>
      <p:ext uri="{BB962C8B-B14F-4D97-AF65-F5344CB8AC3E}">
        <p14:creationId xmlns:p14="http://schemas.microsoft.com/office/powerpoint/2010/main" val="204092550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729" y="1109339"/>
            <a:ext cx="10688542" cy="4639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99872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2835" y="1218891"/>
            <a:ext cx="9526329" cy="44202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52222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053" y="1008251"/>
            <a:ext cx="10989664" cy="50289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302236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091962" y="-177402"/>
            <a:ext cx="6096000" cy="836126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>
              <a:lnSpc>
                <a:spcPts val="5800"/>
              </a:lnSpc>
            </a:pPr>
            <a:r>
              <a:rPr lang="en-US" sz="2000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Real World Applications For Telenor  </a:t>
            </a:r>
            <a:endParaRPr lang="en-US" sz="2000" dirty="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8" name="Rectangle 57"/>
          <p:cNvSpPr/>
          <p:nvPr/>
        </p:nvSpPr>
        <p:spPr>
          <a:xfrm>
            <a:off x="369370" y="688005"/>
            <a:ext cx="829951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Active power sources:</a:t>
            </a:r>
          </a:p>
          <a:p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Identify the power sources which are charging/powering the tower to transmit signals.</a:t>
            </a:r>
          </a:p>
          <a:p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 -&gt; solar, main, batteries.</a:t>
            </a:r>
          </a:p>
          <a:p>
            <a:r>
              <a:rPr lang="en-US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lang="en-US" dirty="0"/>
          </a:p>
        </p:txBody>
      </p:sp>
      <p:sp>
        <p:nvSpPr>
          <p:cNvPr id="59" name="Rectangle 58"/>
          <p:cNvSpPr/>
          <p:nvPr/>
        </p:nvSpPr>
        <p:spPr>
          <a:xfrm>
            <a:off x="369370" y="1775771"/>
            <a:ext cx="11970649" cy="14773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dentify load share:</a:t>
            </a:r>
          </a:p>
          <a:p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Determine the load share % to identify how much of percent each source is providing at a particular time to ensure efficiency </a:t>
            </a:r>
          </a:p>
          <a:p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make sure that sources are not wasted</a:t>
            </a:r>
          </a:p>
          <a:p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 example -&gt; solar 50%, batteries 50% -&gt; efficient use</a:t>
            </a:r>
          </a:p>
          <a:p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40% solar, 20% main, 45% batteries -&gt; energy wastage. </a:t>
            </a:r>
            <a:endParaRPr lang="en-US" dirty="0"/>
          </a:p>
        </p:txBody>
      </p:sp>
      <p:sp>
        <p:nvSpPr>
          <p:cNvPr id="60" name="Rectangle 59"/>
          <p:cNvSpPr/>
          <p:nvPr/>
        </p:nvSpPr>
        <p:spPr>
          <a:xfrm>
            <a:off x="369370" y="3358030"/>
            <a:ext cx="11280437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US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oad shedding prediction:</a:t>
            </a:r>
            <a:endParaRPr lang="en-US" b="1" dirty="0" smtClean="0"/>
          </a:p>
          <a:p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to identify the load shedding patterns predict when next load-shedding could occur so they encounter it by charging batteries, It becomes cost efficient and also anomalies can be identified.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9370" y="4386291"/>
            <a:ext cx="1139350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761970">
              <a:tabLst>
                <a:tab pos="0" algn="l"/>
              </a:tabLst>
            </a:pPr>
            <a:r>
              <a:rPr lang="en-US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Daily load shedding analysis:</a:t>
            </a:r>
          </a:p>
          <a:p>
            <a:pPr algn="just" defTabSz="761970">
              <a:tabLst>
                <a:tab pos="0" algn="l"/>
              </a:tabLst>
            </a:pPr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of load shedding occurs in Boolean from the IOT sensor, so its very difficult to identify the load shedding live. So its</a:t>
            </a:r>
          </a:p>
          <a:p>
            <a:pPr algn="just" defTabSz="761970">
              <a:tabLst>
                <a:tab pos="0" algn="l"/>
              </a:tabLst>
            </a:pPr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Plotted visually to make it easy to encounter several site load-shedding issues.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69370" y="5309621"/>
            <a:ext cx="11556946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b="1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Smart Battery Tracker:</a:t>
            </a:r>
            <a:endParaRPr lang="en-US" b="1" dirty="0">
              <a:solidFill>
                <a:schemeClr val="tx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impossible to identify from the raw dataset if the battery is being charged or not, and if its efficiently charged, so this </a:t>
            </a:r>
          </a:p>
          <a:p>
            <a:r>
              <a:rPr lang="en-US" dirty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</a:t>
            </a:r>
            <a:r>
              <a:rPr lang="en-US" dirty="0" smtClean="0">
                <a:solidFill>
                  <a:schemeClr val="tx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eature allows Telenor to track their battery usage.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03550762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 14"/>
          <p:cNvSpPr/>
          <p:nvPr/>
        </p:nvSpPr>
        <p:spPr>
          <a:xfrm>
            <a:off x="3658731" y="0"/>
            <a:ext cx="4497300" cy="6153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761970">
              <a:lnSpc>
                <a:spcPts val="4833"/>
              </a:lnSpc>
              <a:tabLst>
                <a:tab pos="0" algn="l"/>
              </a:tabLst>
            </a:pPr>
            <a:r>
              <a:rPr lang="en-US" sz="3867" dirty="0">
                <a:solidFill>
                  <a:srgbClr val="FFFFFF"/>
                </a:solidFill>
                <a:latin typeface="MiSans-MiSans-Semibold"/>
                <a:ea typeface="MiSans-MiSans-Semibold"/>
              </a:rPr>
              <a:t>Technologies Used</a:t>
            </a:r>
            <a:endParaRPr lang="en-US" sz="3867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Text 15"/>
          <p:cNvSpPr/>
          <p:nvPr/>
        </p:nvSpPr>
        <p:spPr>
          <a:xfrm>
            <a:off x="1714500" y="1327500"/>
            <a:ext cx="8677200" cy="106822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 defTabSz="761970">
              <a:lnSpc>
                <a:spcPts val="2007"/>
              </a:lnSpc>
              <a:spcBef>
                <a:spcPts val="992"/>
              </a:spcBef>
              <a:spcAft>
                <a:spcPts val="827"/>
              </a:spcAft>
            </a:pPr>
            <a:endParaRPr lang="en-US" sz="2000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 14"/>
          <p:cNvSpPr/>
          <p:nvPr/>
        </p:nvSpPr>
        <p:spPr>
          <a:xfrm>
            <a:off x="330277" y="654819"/>
            <a:ext cx="1679331" cy="47492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defTabSz="761970">
              <a:lnSpc>
                <a:spcPct val="200000"/>
              </a:lnSpc>
              <a:tabLst>
                <a:tab pos="0" algn="l"/>
              </a:tabLst>
            </a:pPr>
            <a:r>
              <a:rPr lang="en-US" sz="1100" b="1" dirty="0" smtClean="0">
                <a:solidFill>
                  <a:srgbClr val="FFFFFF"/>
                </a:solidFill>
                <a:latin typeface="MiSans-MiSans-Semibold"/>
                <a:ea typeface="MiSans-MiSans-Semibold"/>
              </a:rPr>
              <a:t>Backend Technologies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202222" y="782215"/>
            <a:ext cx="11570677" cy="60016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defTabSz="761970">
              <a:lnSpc>
                <a:spcPct val="200000"/>
              </a:lnSpc>
              <a:tabLst>
                <a:tab pos="0" algn="l"/>
              </a:tabLst>
            </a:pPr>
            <a:r>
              <a:rPr lang="en-US" sz="16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</a:p>
          <a:p>
            <a:pPr algn="just" defTabSz="761970">
              <a:lnSpc>
                <a:spcPct val="200000"/>
              </a:lnSpc>
              <a:tabLst>
                <a:tab pos="0" algn="l"/>
              </a:tabLst>
            </a:pPr>
            <a:r>
              <a:rPr lang="en-US" sz="1600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Why: rich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ecosystem of libraries for data manipulation, machine learning, </a:t>
            </a:r>
            <a:r>
              <a:rPr lang="en-US" sz="1600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database access.</a:t>
            </a:r>
            <a:endParaRPr lang="en-US" sz="1600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761970">
              <a:lnSpc>
                <a:spcPct val="200000"/>
              </a:lnSpc>
              <a:tabLst>
                <a:tab pos="0" algn="l"/>
              </a:tabLst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Libraries </a:t>
            </a:r>
            <a:r>
              <a:rPr lang="en-US" sz="16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Used:</a:t>
            </a:r>
            <a:endParaRPr lang="en-US" sz="16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 defTabSz="761970">
              <a:lnSpc>
                <a:spcPct val="200000"/>
              </a:lnSpc>
              <a:tabLst>
                <a:tab pos="0" algn="l"/>
              </a:tabLst>
            </a:pPr>
            <a:r>
              <a:rPr lang="en-US" sz="1600" b="1" u="sng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pymysql</a:t>
            </a:r>
            <a:r>
              <a:rPr lang="en-US" sz="1600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	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Connects to the </a:t>
            </a:r>
            <a:r>
              <a:rPr lang="en-US" sz="1600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retrieves/query data.</a:t>
            </a:r>
          </a:p>
          <a:p>
            <a:pPr algn="just" defTabSz="761970">
              <a:lnSpc>
                <a:spcPct val="200000"/>
              </a:lnSpc>
              <a:tabLst>
                <a:tab pos="0" algn="l"/>
              </a:tabLst>
            </a:pPr>
            <a:r>
              <a:rPr lang="en-US" sz="1600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</a:t>
            </a:r>
            <a:r>
              <a:rPr lang="en-US" sz="16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600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	Manipulates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preprocesses data </a:t>
            </a:r>
            <a:r>
              <a:rPr lang="en-US" sz="1600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(resampling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timestamps, handling missing values).</a:t>
            </a:r>
          </a:p>
          <a:p>
            <a:pPr algn="just" defTabSz="761970">
              <a:lnSpc>
                <a:spcPct val="200000"/>
              </a:lnSpc>
              <a:tabLst>
                <a:tab pos="0" algn="l"/>
              </a:tabLst>
            </a:pPr>
            <a:r>
              <a:rPr lang="en-US" sz="1600" b="1" u="sng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plotly.graph_objects</a:t>
            </a:r>
            <a:r>
              <a:rPr lang="en-US" sz="1600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	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Creates interactive charts (e.g., bar charts) that are converted to JSON for frontend rendering.</a:t>
            </a:r>
          </a:p>
          <a:p>
            <a:pPr algn="just" defTabSz="761970">
              <a:lnSpc>
                <a:spcPct val="200000"/>
              </a:lnSpc>
              <a:tabLst>
                <a:tab pos="0" algn="l"/>
              </a:tabLst>
            </a:pPr>
            <a:r>
              <a:rPr lang="en-US" sz="1600" b="1" u="sng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statsmodels.tsa.statespace.sarimax</a:t>
            </a:r>
            <a:r>
              <a:rPr lang="en-US" sz="1600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	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Trains a SARIMA model for time-series forecasting of load shedding data.</a:t>
            </a:r>
          </a:p>
          <a:p>
            <a:pPr algn="just" defTabSz="761970">
              <a:lnSpc>
                <a:spcPct val="200000"/>
              </a:lnSpc>
              <a:tabLst>
                <a:tab pos="0" algn="l"/>
              </a:tabLst>
            </a:pPr>
            <a:r>
              <a:rPr lang="en-US" sz="1600" b="1" u="sng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numpy</a:t>
            </a:r>
            <a:r>
              <a:rPr lang="en-US" sz="1600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		Performs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numerical operations on data.</a:t>
            </a:r>
          </a:p>
          <a:p>
            <a:pPr algn="just" defTabSz="761970">
              <a:lnSpc>
                <a:spcPct val="200000"/>
              </a:lnSpc>
              <a:tabLst>
                <a:tab pos="0" algn="l"/>
              </a:tabLst>
            </a:pPr>
            <a:r>
              <a:rPr lang="en-US" sz="1600" b="1" u="sng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flask_caching</a:t>
            </a:r>
            <a:r>
              <a:rPr lang="en-US" sz="16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1600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Implements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caching mechanisms to optimize API performance (e.g., caching predictions for 1 hour</a:t>
            </a:r>
            <a:r>
              <a:rPr lang="en-US" sz="1600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).</a:t>
            </a:r>
          </a:p>
          <a:p>
            <a:pPr algn="just" defTabSz="761970">
              <a:lnSpc>
                <a:spcPct val="200000"/>
              </a:lnSpc>
              <a:tabLst>
                <a:tab pos="0" algn="l"/>
              </a:tabLst>
            </a:pPr>
            <a:r>
              <a:rPr lang="en-US" sz="1600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CORS</a:t>
            </a: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  <a:r>
              <a:rPr lang="en-US" sz="1600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	</a:t>
            </a:r>
            <a:r>
              <a:rPr lang="en-US" sz="1600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Cross-Origin </a:t>
            </a:r>
            <a:r>
              <a:rPr lang="en-US" sz="160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 Sharing (CORS), allowing the frontend (hosted on a different domain) to securely access the backend APIs</a:t>
            </a:r>
            <a:r>
              <a:rPr lang="en-US" sz="1600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 algn="just" defTabSz="761970">
              <a:lnSpc>
                <a:spcPct val="200000"/>
              </a:lnSpc>
              <a:tabLst>
                <a:tab pos="0" algn="l"/>
              </a:tabLst>
            </a:pPr>
            <a:r>
              <a:rPr lang="en-US" sz="1600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Postman: </a:t>
            </a:r>
            <a:r>
              <a:rPr lang="en-US" sz="1600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 test the API requests.</a:t>
            </a:r>
            <a:endParaRPr lang="en-US" sz="1600" b="1" u="sng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97495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5"/>
          <p:cNvSpPr/>
          <p:nvPr/>
        </p:nvSpPr>
        <p:spPr>
          <a:xfrm>
            <a:off x="2752578" y="120994"/>
            <a:ext cx="6948720" cy="73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ts val="5800"/>
              </a:lnSpc>
              <a:tabLst>
                <a:tab pos="0" algn="l"/>
              </a:tabLst>
            </a:pPr>
            <a:r>
              <a:rPr lang="en-US" sz="4640" b="0" u="none" strike="noStrike" dirty="0" smtClean="0">
                <a:solidFill>
                  <a:srgbClr val="FFFFFF"/>
                </a:solidFill>
                <a:uFillTx/>
                <a:latin typeface="MiSans-MiSans-Semibold"/>
                <a:ea typeface="MiSans-MiSans-Semibold"/>
              </a:rPr>
              <a:t>Login</a:t>
            </a:r>
            <a:endParaRPr lang="en-US" sz="464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733" y="1562739"/>
            <a:ext cx="3334483" cy="26651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1085" y="1526582"/>
            <a:ext cx="6805244" cy="328812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26378" y="4400453"/>
            <a:ext cx="4881401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Users information is fetched from the database </a:t>
            </a:r>
          </a:p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</a:t>
            </a: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 login, if incorrect information, exception checks</a:t>
            </a:r>
          </a:p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 used to encounter it.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514895" y="4954451"/>
            <a:ext cx="41597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successful login, we head to main page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031621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5"/>
          <p:cNvSpPr/>
          <p:nvPr/>
        </p:nvSpPr>
        <p:spPr>
          <a:xfrm>
            <a:off x="2752578" y="120994"/>
            <a:ext cx="6948720" cy="73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ts val="5800"/>
              </a:lnSpc>
              <a:tabLst>
                <a:tab pos="0" algn="l"/>
              </a:tabLst>
            </a:pPr>
            <a:r>
              <a:rPr lang="en-US" sz="4640" dirty="0" smtClean="0">
                <a:solidFill>
                  <a:srgbClr val="FFFFFF"/>
                </a:solidFill>
                <a:latin typeface="MiSans-MiSans-Semibold"/>
              </a:rPr>
              <a:t>Active Power Source</a:t>
            </a:r>
            <a:endParaRPr lang="en-US" sz="464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0781" y="5065971"/>
            <a:ext cx="4633833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timestamps are fetched from the database </a:t>
            </a:r>
          </a:p>
          <a:p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displayed for the user to choose from.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423946" y="5344626"/>
            <a:ext cx="576805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 choosing a timestamp, the current active power sources</a:t>
            </a:r>
          </a:p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 shown visually to see how much “kW” is being used for</a:t>
            </a:r>
          </a:p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</a:t>
            </a: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ach to also identify energy wastage. 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256" y="1054484"/>
            <a:ext cx="2349317" cy="38163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12088" y="859308"/>
            <a:ext cx="3006560" cy="420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100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5"/>
          <p:cNvSpPr/>
          <p:nvPr/>
        </p:nvSpPr>
        <p:spPr>
          <a:xfrm>
            <a:off x="2564980" y="138579"/>
            <a:ext cx="6948720" cy="73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ts val="5800"/>
              </a:lnSpc>
              <a:tabLst>
                <a:tab pos="0" algn="l"/>
              </a:tabLst>
            </a:pPr>
            <a:r>
              <a:rPr lang="en-US" sz="4640" dirty="0" smtClean="0">
                <a:solidFill>
                  <a:srgbClr val="FFFFFF"/>
                </a:solidFill>
                <a:latin typeface="MiSans-MiSans-Semibold"/>
              </a:rPr>
              <a:t>Load Share Percentage</a:t>
            </a:r>
            <a:endParaRPr lang="en-US" sz="464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475" y="1585555"/>
            <a:ext cx="7698840" cy="4023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861004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5"/>
          <p:cNvSpPr/>
          <p:nvPr/>
        </p:nvSpPr>
        <p:spPr>
          <a:xfrm>
            <a:off x="2752578" y="120994"/>
            <a:ext cx="6948720" cy="73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ts val="5800"/>
              </a:lnSpc>
              <a:tabLst>
                <a:tab pos="0" algn="l"/>
              </a:tabLst>
            </a:pPr>
            <a:r>
              <a:rPr lang="en-US" sz="4640" dirty="0" smtClean="0">
                <a:solidFill>
                  <a:srgbClr val="FFFFFF"/>
                </a:solidFill>
                <a:latin typeface="MiSans-MiSans-Semibold"/>
              </a:rPr>
              <a:t>Load Shedding Prediction</a:t>
            </a:r>
            <a:endParaRPr lang="en-US" sz="464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23946" y="1317749"/>
            <a:ext cx="433349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Above graph showcases the overall ls status.</a:t>
            </a:r>
            <a:endParaRPr lang="en-US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200" y="1317749"/>
            <a:ext cx="6172200" cy="4873098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6362400" y="2504765"/>
            <a:ext cx="6905192" cy="39703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Below Graph:</a:t>
            </a:r>
          </a:p>
          <a:p>
            <a:pPr algn="just"/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the prediction is made:</a:t>
            </a:r>
          </a:p>
          <a:p>
            <a:pPr algn="just"/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is fetched then manipulated: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Missing values are averaged out.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Filtering out actual data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Calculating the percent of ls status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dirty="0" smtClean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Time-Series Model </a:t>
            </a:r>
            <a:r>
              <a:rPr lang="en-US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“SARIMA” Seasonal </a:t>
            </a:r>
            <a:r>
              <a:rPr lang="en-US" b="1" u="sng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AutoRegressive</a:t>
            </a:r>
            <a:r>
              <a:rPr lang="en-US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  <a:p>
            <a:pPr algn="just"/>
            <a:r>
              <a:rPr lang="en-US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Integrated </a:t>
            </a:r>
            <a:r>
              <a:rPr lang="en-US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Moving </a:t>
            </a:r>
            <a:r>
              <a:rPr lang="en-US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Average</a:t>
            </a: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is trained on the manipulated</a:t>
            </a:r>
          </a:p>
          <a:p>
            <a:pPr algn="just"/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</a:t>
            </a:r>
          </a:p>
          <a:p>
            <a:pPr algn="just"/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Added seasonality to the model of weekly, along with other </a:t>
            </a:r>
          </a:p>
          <a:p>
            <a:pPr algn="just"/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parameters like differencing and moving averages.</a:t>
            </a:r>
          </a:p>
          <a:p>
            <a:pPr algn="just"/>
            <a:endParaRPr lang="en-US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just"/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Plotted the data in comparison with actual data.</a:t>
            </a:r>
            <a:endParaRPr lang="en-US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0615872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5"/>
          <p:cNvSpPr/>
          <p:nvPr/>
        </p:nvSpPr>
        <p:spPr>
          <a:xfrm>
            <a:off x="2752578" y="120994"/>
            <a:ext cx="6948720" cy="73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ts val="5800"/>
              </a:lnSpc>
              <a:tabLst>
                <a:tab pos="0" algn="l"/>
              </a:tabLst>
            </a:pPr>
            <a:r>
              <a:rPr lang="en-US" sz="4640" dirty="0" smtClean="0">
                <a:solidFill>
                  <a:srgbClr val="FFFFFF"/>
                </a:solidFill>
                <a:latin typeface="MiSans-MiSans-Semibold"/>
              </a:rPr>
              <a:t>Daily Load Shedding</a:t>
            </a:r>
            <a:endParaRPr lang="en-US" sz="464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406361" y="1871666"/>
            <a:ext cx="5690853" cy="286232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Daily Load Shedding is calculated: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Fetch the load shedding data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Filter out and total the data by per day.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Replacing the null values as 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load shedding per day by counting where</a:t>
            </a:r>
          </a:p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</a:t>
            </a: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 status was active (</a:t>
            </a:r>
            <a:r>
              <a:rPr lang="en-US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ls_status</a:t>
            </a: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==1)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Calculate the </a:t>
            </a:r>
            <a:r>
              <a:rPr lang="en-US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loadshedding</a:t>
            </a: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% -&gt; </a:t>
            </a:r>
            <a:r>
              <a:rPr lang="en-US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b="1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ls_count</a:t>
            </a:r>
            <a:r>
              <a:rPr lang="en-US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/total)*100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Calculating the hourly </a:t>
            </a:r>
            <a:r>
              <a:rPr lang="en-US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ls_status</a:t>
            </a: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-&gt; </a:t>
            </a:r>
            <a:r>
              <a:rPr lang="en-US" b="1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ls_count</a:t>
            </a:r>
            <a:r>
              <a:rPr lang="en-US" b="1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*interval/60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Return in </a:t>
            </a:r>
            <a:r>
              <a:rPr lang="en-US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json</a:t>
            </a: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format so that its fetched via the </a:t>
            </a:r>
            <a:r>
              <a:rPr lang="en-US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api</a:t>
            </a: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</a:t>
            </a:r>
          </a:p>
          <a:p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Plotted on front end.</a:t>
            </a:r>
            <a:endParaRPr lang="en-US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9945" y="1741830"/>
            <a:ext cx="5725370" cy="3445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3880870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Text 5"/>
          <p:cNvSpPr/>
          <p:nvPr/>
        </p:nvSpPr>
        <p:spPr>
          <a:xfrm>
            <a:off x="2752578" y="120994"/>
            <a:ext cx="6948720" cy="738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0" tIns="0" rIns="0" bIns="0" anchor="t">
            <a:noAutofit/>
          </a:bodyPr>
          <a:lstStyle/>
          <a:p>
            <a:pPr algn="ctr" defTabSz="914400">
              <a:lnSpc>
                <a:spcPts val="5800"/>
              </a:lnSpc>
              <a:tabLst>
                <a:tab pos="0" algn="l"/>
              </a:tabLst>
            </a:pPr>
            <a:r>
              <a:rPr lang="en-US" sz="4640" dirty="0" smtClean="0">
                <a:solidFill>
                  <a:srgbClr val="FFFFFF"/>
                </a:solidFill>
                <a:latin typeface="MiSans-MiSans-Semibold"/>
              </a:rPr>
              <a:t>Smart Battery Tracker</a:t>
            </a:r>
            <a:endParaRPr lang="en-US" sz="464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294384" y="723125"/>
            <a:ext cx="5043497" cy="67403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 Battery is Tracked after analyzing the raw data:</a:t>
            </a:r>
          </a:p>
          <a:p>
            <a:r>
              <a:rPr lang="en-US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Determine charging/discharging action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“</a:t>
            </a:r>
            <a:r>
              <a:rPr lang="en-US" b="1" u="sng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csu_ana_batt_total_curr</a:t>
            </a: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is &gt;0 it </a:t>
            </a: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means</a:t>
            </a:r>
          </a:p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attery </a:t>
            </a:r>
            <a:r>
              <a:rPr lang="en-US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discharging </a:t>
            </a: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else -&gt; </a:t>
            </a:r>
            <a:r>
              <a:rPr lang="en-US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charging</a:t>
            </a:r>
          </a:p>
          <a:p>
            <a:endParaRPr lang="en-US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Determine power source:</a:t>
            </a:r>
            <a:endParaRPr lang="en-US" dirty="0" smtClean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b="1" u="sng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ac_dig_ac_source</a:t>
            </a:r>
            <a:r>
              <a:rPr lang="en-US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==1 </a:t>
            </a: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then it means source </a:t>
            </a:r>
          </a:p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used for energy is </a:t>
            </a:r>
            <a:r>
              <a:rPr lang="en-US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“external source” </a:t>
            </a:r>
          </a:p>
          <a:p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else-</a:t>
            </a: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&gt; </a:t>
            </a:r>
            <a:r>
              <a:rPr lang="en-US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battery</a:t>
            </a:r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US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b="1" u="sng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Determine energy flow direction:</a:t>
            </a:r>
          </a:p>
          <a:p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</a:t>
            </a:r>
            <a:r>
              <a:rPr lang="en-US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“</a:t>
            </a:r>
            <a:r>
              <a:rPr lang="en-US" b="1" u="sng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main_contrib_batt_kwh</a:t>
            </a:r>
            <a:r>
              <a:rPr lang="en-US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&lt;0 </a:t>
            </a: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then </a:t>
            </a:r>
            <a:r>
              <a:rPr lang="en-US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taken</a:t>
            </a:r>
          </a:p>
          <a:p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main energy </a:t>
            </a:r>
          </a:p>
          <a:p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Else -&gt; </a:t>
            </a:r>
            <a:r>
              <a:rPr lang="en-US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added</a:t>
            </a:r>
            <a:endParaRPr lang="en-US" b="1" u="sng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 smtClean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“</a:t>
            </a:r>
            <a:r>
              <a:rPr lang="en-US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dg_contrib_batt_kwh</a:t>
            </a: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&lt;0 then </a:t>
            </a:r>
            <a:r>
              <a:rPr lang="en-US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taken </a:t>
            </a: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by </a:t>
            </a:r>
          </a:p>
          <a:p>
            <a:r>
              <a:rPr lang="en-US" b="1" u="sng" dirty="0" err="1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US" b="1" u="sng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iseal</a:t>
            </a:r>
            <a:r>
              <a:rPr lang="en-US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generator</a:t>
            </a:r>
          </a:p>
          <a:p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else -&gt; </a:t>
            </a:r>
            <a:r>
              <a:rPr lang="en-US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added</a:t>
            </a:r>
            <a:endParaRPr lang="en-US" b="1" u="sng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 smtClean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If “</a:t>
            </a:r>
            <a:r>
              <a:rPr lang="en-US" b="1" u="sng" dirty="0" err="1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solar_contrib_batt_kwh</a:t>
            </a: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” &lt;0 then </a:t>
            </a:r>
            <a:r>
              <a:rPr lang="en-US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taken </a:t>
            </a:r>
          </a:p>
          <a:p>
            <a:r>
              <a:rPr lang="en-US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 </a:t>
            </a:r>
            <a:r>
              <a:rPr lang="en-US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solar </a:t>
            </a:r>
          </a:p>
          <a:p>
            <a:r>
              <a:rPr lang="en-US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else -&gt; </a:t>
            </a:r>
            <a:r>
              <a:rPr lang="en-US" b="1" u="sng" dirty="0" smtClean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 added</a:t>
            </a:r>
            <a:endParaRPr lang="en-US" b="1" u="sng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 smtClean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740" y="2223414"/>
            <a:ext cx="7235644" cy="2706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50417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307</TotalTime>
  <Words>820</Words>
  <Application>Microsoft Office PowerPoint</Application>
  <PresentationFormat>Widescreen</PresentationFormat>
  <Paragraphs>153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Calibri</vt:lpstr>
      <vt:lpstr>Calisto MT</vt:lpstr>
      <vt:lpstr>MiSans-MiSans-Semibold</vt:lpstr>
      <vt:lpstr>OpenSymbol</vt:lpstr>
      <vt:lpstr>Times New Roman</vt:lpstr>
      <vt:lpstr>Trebuchet MS</vt:lpstr>
      <vt:lpstr>Wingdings 2</vt:lpstr>
      <vt:lpstr>Slate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MRT www.Win2Farsi.com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Moorche</dc:creator>
  <cp:lastModifiedBy>Moorche</cp:lastModifiedBy>
  <cp:revision>37</cp:revision>
  <dcterms:created xsi:type="dcterms:W3CDTF">2025-05-07T20:20:34Z</dcterms:created>
  <dcterms:modified xsi:type="dcterms:W3CDTF">2025-05-10T14:33:24Z</dcterms:modified>
</cp:coreProperties>
</file>